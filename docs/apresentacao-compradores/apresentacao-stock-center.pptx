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charts/chart1.xml" ContentType="application/vnd.openxmlformats-officedocument.drawingml.chart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Receita (R$)</c:v>
                </c:pt>
              </c:strCache>
            </c:strRef>
          </c:tx>
          <c:spPr>
            <a:solidFill>
              <a:srgbClr val="946A1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M1</c:v>
                  </c:pt>
                  <c:pt idx="1">
                    <c:v>M2</c:v>
                  </c:pt>
                  <c:pt idx="2">
                    <c:v>M3</c:v>
                  </c:pt>
                  <c:pt idx="3">
                    <c:v>M4</c:v>
                  </c:pt>
                  <c:pt idx="4">
                    <c:v>M5</c:v>
                  </c:pt>
                  <c:pt idx="5">
                    <c:v>M6</c:v>
                  </c:pt>
                  <c:pt idx="6">
                    <c:v>M7</c:v>
                  </c:pt>
                  <c:pt idx="7">
                    <c:v>M8</c:v>
                  </c:pt>
                  <c:pt idx="8">
                    <c:v>M9</c:v>
                  </c:pt>
                  <c:pt idx="9">
                    <c:v>M10</c:v>
                  </c:pt>
                  <c:pt idx="10">
                    <c:v>M11</c:v>
                  </c:pt>
                  <c:pt idx="11">
                    <c:v>M12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5500</c:v>
                </c:pt>
                <c:pt idx="1">
                  <c:v>6490</c:v>
                </c:pt>
                <c:pt idx="2">
                  <c:v>7480</c:v>
                </c:pt>
                <c:pt idx="3">
                  <c:v>8470</c:v>
                </c:pt>
                <c:pt idx="4">
                  <c:v>9460</c:v>
                </c:pt>
                <c:pt idx="5">
                  <c:v>10450</c:v>
                </c:pt>
                <c:pt idx="6">
                  <c:v>11550</c:v>
                </c:pt>
                <c:pt idx="7">
                  <c:v>12540</c:v>
                </c:pt>
                <c:pt idx="8">
                  <c:v>13530</c:v>
                </c:pt>
                <c:pt idx="9">
                  <c:v>14520</c:v>
                </c:pt>
                <c:pt idx="10">
                  <c:v>15510</c:v>
                </c:pt>
                <c:pt idx="11">
                  <c:v>16500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Lucro líquido (R$)</c:v>
                </c:pt>
              </c:strCache>
            </c:strRef>
          </c:tx>
          <c:spPr>
            <a:solidFill>
              <a:srgbClr val="137A4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M1</c:v>
                  </c:pt>
                  <c:pt idx="1">
                    <c:v>M2</c:v>
                  </c:pt>
                  <c:pt idx="2">
                    <c:v>M3</c:v>
                  </c:pt>
                  <c:pt idx="3">
                    <c:v>M4</c:v>
                  </c:pt>
                  <c:pt idx="4">
                    <c:v>M5</c:v>
                  </c:pt>
                  <c:pt idx="5">
                    <c:v>M6</c:v>
                  </c:pt>
                  <c:pt idx="6">
                    <c:v>M7</c:v>
                  </c:pt>
                  <c:pt idx="7">
                    <c:v>M8</c:v>
                  </c:pt>
                  <c:pt idx="8">
                    <c:v>M9</c:v>
                  </c:pt>
                  <c:pt idx="9">
                    <c:v>M10</c:v>
                  </c:pt>
                  <c:pt idx="10">
                    <c:v>M11</c:v>
                  </c:pt>
                  <c:pt idx="11">
                    <c:v>M12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2061</c:v>
                </c:pt>
                <c:pt idx="1">
                  <c:v>2433</c:v>
                </c:pt>
                <c:pt idx="2">
                  <c:v>2805</c:v>
                </c:pt>
                <c:pt idx="3">
                  <c:v>3176</c:v>
                </c:pt>
                <c:pt idx="4">
                  <c:v>3548</c:v>
                </c:pt>
                <c:pt idx="5">
                  <c:v>3919</c:v>
                </c:pt>
                <c:pt idx="6">
                  <c:v>4217</c:v>
                </c:pt>
                <c:pt idx="7">
                  <c:v>4589</c:v>
                </c:pt>
                <c:pt idx="8">
                  <c:v>4960</c:v>
                </c:pt>
                <c:pt idx="9">
                  <c:v>5332</c:v>
                </c:pt>
                <c:pt idx="10">
                  <c:v>5704</c:v>
                </c:pt>
                <c:pt idx="11">
                  <c:v>6075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4DED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">
            <a:off x="5669280" y="-457200"/>
            <a:ext cx="4114800" cy="4114800"/>
          </a:xfrm>
          <a:prstGeom prst="rect">
            <a:avLst/>
          </a:prstGeom>
          <a:solidFill>
            <a:srgbClr val="946A19"/>
          </a:solidFill>
          <a:ln/>
        </p:spPr>
      </p:sp>
      <p:sp>
        <p:nvSpPr>
          <p:cNvPr id="3" name="Shape 1"/>
          <p:cNvSpPr/>
          <p:nvPr/>
        </p:nvSpPr>
        <p:spPr>
          <a:xfrm rot="-720000">
            <a:off x="6766560" y="3474720"/>
            <a:ext cx="2926080" cy="2926080"/>
          </a:xfrm>
          <a:prstGeom prst="rect">
            <a:avLst/>
          </a:prstGeom>
          <a:solidFill>
            <a:srgbClr val="F3D26B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709160"/>
            <a:ext cx="9144000" cy="109728"/>
          </a:xfrm>
          <a:prstGeom prst="rect">
            <a:avLst/>
          </a:prstGeom>
          <a:solidFill>
            <a:srgbClr val="F3D26B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7772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3D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CENTER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94360" y="1234440"/>
            <a:ext cx="7772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Variedades 2.0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640080" y="2331720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3D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Loja online profissional para o canal digital da loja física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40080" y="3246120"/>
            <a:ext cx="2606040" cy="502920"/>
          </a:xfrm>
          <a:prstGeom prst="roundRect">
            <a:avLst>
              <a:gd name="adj" fmla="val 14545"/>
            </a:avLst>
          </a:prstGeom>
          <a:solidFill>
            <a:srgbClr val="5F420F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3364992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3D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completo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29000" y="3246120"/>
            <a:ext cx="2606040" cy="502920"/>
          </a:xfrm>
          <a:prstGeom prst="roundRect">
            <a:avLst>
              <a:gd name="adj" fmla="val 14545"/>
            </a:avLst>
          </a:prstGeom>
          <a:solidFill>
            <a:srgbClr val="5F420F"/>
          </a:solidFill>
          <a:ln/>
        </p:spPr>
      </p:sp>
      <p:sp>
        <p:nvSpPr>
          <p:cNvPr id="11" name="Text 9"/>
          <p:cNvSpPr/>
          <p:nvPr/>
        </p:nvSpPr>
        <p:spPr>
          <a:xfrm>
            <a:off x="3538728" y="3364992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3D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 e cartão integrados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3246120"/>
            <a:ext cx="2606040" cy="502920"/>
          </a:xfrm>
          <a:prstGeom prst="roundRect">
            <a:avLst>
              <a:gd name="adj" fmla="val 14545"/>
            </a:avLst>
          </a:prstGeom>
          <a:solidFill>
            <a:srgbClr val="5F420F"/>
          </a:solidFill>
          <a:ln/>
        </p:spPr>
      </p:sp>
      <p:sp>
        <p:nvSpPr>
          <p:cNvPr id="13" name="Text 11"/>
          <p:cNvSpPr/>
          <p:nvPr/>
        </p:nvSpPr>
        <p:spPr>
          <a:xfrm>
            <a:off x="6327648" y="3364992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3D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com relatório de lucro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48006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6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Apresentação para compradores ·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2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946A19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8138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5050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Por que ir além da loja física?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024128"/>
            <a:ext cx="8138160" cy="18288"/>
          </a:xfrm>
          <a:prstGeom prst="rect">
            <a:avLst/>
          </a:prstGeom>
          <a:solidFill>
            <a:srgbClr val="E4DED0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143000"/>
            <a:ext cx="8092440" cy="3337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505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Vendas 24 horas, inclusive fora do horário da loja</a:t>
            </a:r>
            <a:endParaRPr lang="en-US" sz="1500" dirty="0"/>
          </a:p>
          <a:p>
            <a:pPr marL="342900" indent="-3429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505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Alcance para todo o Brasil (envio) ou retirada na loja</a:t>
            </a:r>
            <a:endParaRPr lang="en-US" sz="1500" dirty="0"/>
          </a:p>
          <a:p>
            <a:pPr marL="342900" indent="-3429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505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Mesmo estoque e marca — um só negócio, dois canais</a:t>
            </a:r>
            <a:endParaRPr lang="en-US" sz="1500" dirty="0"/>
          </a:p>
          <a:p>
            <a:pPr marL="342900" indent="-3429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505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digital já espera comprar online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73152"/>
          </a:xfrm>
          <a:prstGeom prst="rect">
            <a:avLst/>
          </a:prstGeom>
          <a:solidFill>
            <a:srgbClr val="946A19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495604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6F6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CENTER VARIEDADES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092440" y="4956048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6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2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946A19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8138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5050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Sem canal digital estruturado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024128"/>
            <a:ext cx="8138160" cy="18288"/>
          </a:xfrm>
          <a:prstGeom prst="rect">
            <a:avLst/>
          </a:prstGeom>
          <a:solidFill>
            <a:srgbClr val="E4DED0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143000"/>
            <a:ext cx="8092440" cy="3337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505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Estoque vendido no WhatsApp sem baixa automática</a:t>
            </a:r>
            <a:endParaRPr lang="en-US" sz="1500" dirty="0"/>
          </a:p>
          <a:p>
            <a:pPr marL="342900" indent="-3429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505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Pix/cartão oficial com confirmação automática</a:t>
            </a:r>
            <a:endParaRPr lang="en-US" sz="1500" dirty="0"/>
          </a:p>
          <a:p>
            <a:pPr marL="342900" indent="-3429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505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Planilhas para pedidos, frete e margem</a:t>
            </a:r>
            <a:endParaRPr lang="en-US" sz="1500" dirty="0"/>
          </a:p>
          <a:p>
            <a:pPr marL="342900" indent="-3429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505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lucro bruto por produto em tempo real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73152"/>
          </a:xfrm>
          <a:prstGeom prst="rect">
            <a:avLst/>
          </a:prstGeom>
          <a:solidFill>
            <a:srgbClr val="946A19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495604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6F6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CENTER VARIEDADES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092440" y="4956048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6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2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946A19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8138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5050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Stock Center 2.0 — a solução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024128"/>
            <a:ext cx="8138160" cy="18288"/>
          </a:xfrm>
          <a:prstGeom prst="rect">
            <a:avLst/>
          </a:prstGeom>
          <a:solidFill>
            <a:srgbClr val="E4DED0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143000"/>
            <a:ext cx="8092440" cy="3337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505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moderno (Next.js + React) — rápido e responsivo</a:t>
            </a:r>
            <a:endParaRPr lang="en-US" sz="1500" dirty="0"/>
          </a:p>
          <a:p>
            <a:pPr marL="342900" indent="-3429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505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+ painel administrativo /admin</a:t>
            </a:r>
            <a:endParaRPr lang="en-US" sz="1500" dirty="0"/>
          </a:p>
          <a:p>
            <a:pPr marL="342900" indent="-3429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505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Stripe: Pix e cartão com webhook automático</a:t>
            </a:r>
            <a:endParaRPr lang="en-US" sz="1500" dirty="0"/>
          </a:p>
          <a:p>
            <a:pPr marL="342900" indent="-3429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505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Frete (Melhor Envio) + e-mails transacionais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73152"/>
          </a:xfrm>
          <a:prstGeom prst="rect">
            <a:avLst/>
          </a:prstGeom>
          <a:solidFill>
            <a:srgbClr val="946A19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495604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6F6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CENTER VARIEDADES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092440" y="4956048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6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2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946A19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8138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5050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Experiência de compra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96012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F6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o cliente final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298448"/>
            <a:ext cx="8138160" cy="18288"/>
          </a:xfrm>
          <a:prstGeom prst="rect">
            <a:avLst/>
          </a:prstGeom>
          <a:solidFill>
            <a:srgbClr val="E4DED0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417320"/>
            <a:ext cx="8092440" cy="3337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505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promocional, catálogo com filtros e busca</a:t>
            </a:r>
            <a:endParaRPr lang="en-US" sz="1500" dirty="0"/>
          </a:p>
          <a:p>
            <a:pPr marL="342900" indent="-3429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505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 com desconto + cartão em até 10x</a:t>
            </a:r>
            <a:endParaRPr lang="en-US" sz="1500" dirty="0"/>
          </a:p>
          <a:p>
            <a:pPr marL="342900" indent="-3429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505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Cupom, cotação de frete por CEP</a:t>
            </a:r>
            <a:endParaRPr lang="en-US" sz="1500" dirty="0"/>
          </a:p>
          <a:p>
            <a:pPr marL="342900" indent="-3429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505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Conta: pedidos, rastreio e favoritos</a:t>
            </a:r>
            <a:endParaRPr lang="en-US" sz="1500" dirty="0"/>
          </a:p>
          <a:p>
            <a:pPr marL="342900" indent="-3429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505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e Instagram integrados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0" y="4892040"/>
            <a:ext cx="9144000" cy="73152"/>
          </a:xfrm>
          <a:prstGeom prst="rect">
            <a:avLst/>
          </a:prstGeom>
          <a:solidFill>
            <a:srgbClr val="946A19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495604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6F6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CENTER VARIEDADES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8092440" y="4956048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6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2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946A19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8138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5050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Painel administrativo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96012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F6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os donos da loja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298448"/>
            <a:ext cx="8138160" cy="18288"/>
          </a:xfrm>
          <a:prstGeom prst="rect">
            <a:avLst/>
          </a:prstGeom>
          <a:solidFill>
            <a:srgbClr val="E4DED0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417320"/>
            <a:ext cx="8092440" cy="3337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505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Pedidos: status, rastreio e nota fiscal</a:t>
            </a:r>
            <a:endParaRPr lang="en-US" sz="1500" dirty="0"/>
          </a:p>
          <a:p>
            <a:pPr marL="342900" indent="-3429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505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Produtos: estoque, CMV e ofertas relâmpago</a:t>
            </a:r>
            <a:endParaRPr lang="en-US" sz="1500" dirty="0"/>
          </a:p>
          <a:p>
            <a:pPr marL="342900" indent="-3429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505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Cupons e gráficos de vendas por categoria</a:t>
            </a:r>
            <a:endParaRPr lang="en-US" sz="1500" dirty="0"/>
          </a:p>
          <a:p>
            <a:pPr marL="342900" indent="-3429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505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Relatório: receita, CMV, lucro bruto e margem %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0" y="4892040"/>
            <a:ext cx="9144000" cy="73152"/>
          </a:xfrm>
          <a:prstGeom prst="rect">
            <a:avLst/>
          </a:prstGeom>
          <a:solidFill>
            <a:srgbClr val="946A19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495604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6F6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CENTER VARIEDADES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8092440" y="4956048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6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5F420F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0" y="0"/>
            <a:ext cx="320040" cy="5143500"/>
          </a:xfrm>
          <a:prstGeom prst="rect">
            <a:avLst/>
          </a:prstGeom>
          <a:solidFill>
            <a:srgbClr val="F3D26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463040"/>
            <a:ext cx="2926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3D2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02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4160520" y="1920240"/>
            <a:ext cx="4754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5050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Produto e operação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160520" y="306324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F6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Jornada de compra, pagamentos e marketing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2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946A19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8138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5050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Do clique à entrega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024128"/>
            <a:ext cx="8138160" cy="18288"/>
          </a:xfrm>
          <a:prstGeom prst="rect">
            <a:avLst/>
          </a:prstGeom>
          <a:solidFill>
            <a:srgbClr val="E4DED0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143000"/>
            <a:ext cx="8092440" cy="3337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505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 e carrinho → checkout autenticado</a:t>
            </a:r>
            <a:endParaRPr lang="en-US" sz="1500" dirty="0"/>
          </a:p>
          <a:p>
            <a:pPr marL="342900" indent="-3429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505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Frete cotado por CEP ou retirada na loja</a:t>
            </a:r>
            <a:endParaRPr lang="en-US" sz="1500" dirty="0"/>
          </a:p>
          <a:p>
            <a:pPr marL="342900" indent="-3429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505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Pagamento Stripe (Pix ou cartão)</a:t>
            </a:r>
            <a:endParaRPr lang="en-US" sz="1500" dirty="0"/>
          </a:p>
          <a:p>
            <a:pPr marL="342900" indent="-3429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505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 confirma pagamento e baixa estoque</a:t>
            </a:r>
            <a:endParaRPr lang="en-US" sz="1500" dirty="0"/>
          </a:p>
          <a:p>
            <a:pPr marL="342900" indent="-3429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505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acompanha tudo em Minha conta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73152"/>
          </a:xfrm>
          <a:prstGeom prst="rect">
            <a:avLst/>
          </a:prstGeom>
          <a:solidFill>
            <a:srgbClr val="946A19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495604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6F6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CENTER VARIEDADES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092440" y="4956048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6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2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946A19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8138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5050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Pagamentos seguros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96012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F6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Brasil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298448"/>
            <a:ext cx="8138160" cy="18288"/>
          </a:xfrm>
          <a:prstGeom prst="rect">
            <a:avLst/>
          </a:prstGeom>
          <a:solidFill>
            <a:srgbClr val="E4DED0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417320"/>
            <a:ext cx="8092440" cy="3337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505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Pix: reserva de estoque 30 min + cron de expiração</a:t>
            </a:r>
            <a:endParaRPr lang="en-US" sz="1500" dirty="0"/>
          </a:p>
          <a:p>
            <a:pPr marL="342900" indent="-3429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505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Cartão: checkout hospedado pela Stripe</a:t>
            </a:r>
            <a:endParaRPr lang="en-US" sz="1500" dirty="0"/>
          </a:p>
          <a:p>
            <a:pPr marL="342900" indent="-3429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505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Taxa Pix: 1,19% · Cartão: 3,99% + R$ 0,39</a:t>
            </a:r>
            <a:endParaRPr lang="en-US" sz="1500" dirty="0"/>
          </a:p>
          <a:p>
            <a:pPr marL="342900" indent="-3429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505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Estoque só baixa quando o pagamento confirma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0" y="4892040"/>
            <a:ext cx="9144000" cy="73152"/>
          </a:xfrm>
          <a:prstGeom prst="rect">
            <a:avLst/>
          </a:prstGeom>
          <a:solidFill>
            <a:srgbClr val="946A19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495604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6F6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CENTER VARIEDADES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8092440" y="4956048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6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2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946A19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8138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5050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Logística e retirada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024128"/>
            <a:ext cx="8138160" cy="18288"/>
          </a:xfrm>
          <a:prstGeom prst="rect">
            <a:avLst/>
          </a:prstGeom>
          <a:solidFill>
            <a:srgbClr val="E4DED0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143000"/>
            <a:ext cx="8092440" cy="3337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505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Melhor Envio para cotação real (quando configurado)</a:t>
            </a:r>
            <a:endParaRPr lang="en-US" sz="1500" dirty="0"/>
          </a:p>
          <a:p>
            <a:pPr marL="342900" indent="-3429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505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Fallback: R$ 14,90 (SP) / R$ 21,90 (demais CEPs)</a:t>
            </a:r>
            <a:endParaRPr lang="en-US" sz="1500" dirty="0"/>
          </a:p>
          <a:p>
            <a:pPr marL="342900" indent="-3429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505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Retirada na loja — sem frete, cliente retira com código</a:t>
            </a:r>
            <a:endParaRPr lang="en-US" sz="1500" dirty="0"/>
          </a:p>
          <a:p>
            <a:pPr marL="342900" indent="-3429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505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Frete cobrado ao cliente separado no relatório admin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73152"/>
          </a:xfrm>
          <a:prstGeom prst="rect">
            <a:avLst/>
          </a:prstGeom>
          <a:solidFill>
            <a:srgbClr val="946A19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495604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6F6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CENTER VARIEDADES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092440" y="4956048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6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2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946A19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8138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5050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Marketing embutido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024128"/>
            <a:ext cx="8138160" cy="18288"/>
          </a:xfrm>
          <a:prstGeom prst="rect">
            <a:avLst/>
          </a:prstGeom>
          <a:solidFill>
            <a:srgbClr val="E4DED0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143000"/>
            <a:ext cx="8092440" cy="3337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505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Cupons e ofertas relâmpago (24 horas)</a:t>
            </a:r>
            <a:endParaRPr lang="en-US" sz="1500" dirty="0"/>
          </a:p>
          <a:p>
            <a:pPr marL="342900" indent="-3429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505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Newsletter, contato e Google Analytics 4</a:t>
            </a:r>
            <a:endParaRPr lang="en-US" sz="1500" dirty="0"/>
          </a:p>
          <a:p>
            <a:pPr marL="342900" indent="-3429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505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Recuperação de carrinho abandonado</a:t>
            </a:r>
            <a:endParaRPr lang="en-US" sz="1500" dirty="0"/>
          </a:p>
          <a:p>
            <a:pPr marL="342900" indent="-3429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505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Mídia paga (Meta/Google): orçar à parte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73152"/>
          </a:xfrm>
          <a:prstGeom prst="rect">
            <a:avLst/>
          </a:prstGeom>
          <a:solidFill>
            <a:srgbClr val="946A19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495604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6F6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CENTER VARIEDADES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092440" y="4956048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6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5F420F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0" y="0"/>
            <a:ext cx="320040" cy="5143500"/>
          </a:xfrm>
          <a:prstGeom prst="rect">
            <a:avLst/>
          </a:prstGeom>
          <a:solidFill>
            <a:srgbClr val="F3D26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463040"/>
            <a:ext cx="2926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3D2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03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4160520" y="1920240"/>
            <a:ext cx="4754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5050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Investimento e retorno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160520" y="306324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F6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Custos, cenários e projeção financeira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2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946A19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8138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5050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Investimento inicial (único)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96012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F6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já desenvolvido — foco em colocar no ar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298448"/>
            <a:ext cx="8138160" cy="18288"/>
          </a:xfrm>
          <a:prstGeom prst="rect">
            <a:avLst/>
          </a:prstGeom>
          <a:solidFill>
            <a:srgbClr val="E4DED0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1600200"/>
            <a:ext cx="1965960" cy="214884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E4DE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78308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F6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Domínio .com.br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331720"/>
            <a:ext cx="1691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5050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R$ 40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40080" y="306324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6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1º ano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651760" y="1600200"/>
            <a:ext cx="1965960" cy="214884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E4DE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88920" y="178308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F6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· Resend · Neon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788920" y="2331720"/>
            <a:ext cx="1691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5050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R$ 0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2788920" y="306324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6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abertura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800600" y="1600200"/>
            <a:ext cx="1965960" cy="214884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E4DED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37760" y="178308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F6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CMV + fotos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37760" y="2331720"/>
            <a:ext cx="1691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5050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Interno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4937760" y="306324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6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operacional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949440" y="1600200"/>
            <a:ext cx="1965960" cy="2148840"/>
          </a:xfrm>
          <a:prstGeom prst="roundRect">
            <a:avLst>
              <a:gd name="adj" fmla="val 2791"/>
            </a:avLst>
          </a:prstGeom>
          <a:solidFill>
            <a:srgbClr val="5F420F"/>
          </a:solidFill>
          <a:ln w="12700">
            <a:solidFill>
              <a:srgbClr val="E4DED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086600" y="178308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mínimo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086600" y="2331720"/>
            <a:ext cx="1691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3D2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R$ 40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7086600" y="306324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3D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estimado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02920" y="397764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F6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pago não incluído · impostos via contador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0" y="4892040"/>
            <a:ext cx="9144000" cy="73152"/>
          </a:xfrm>
          <a:prstGeom prst="rect">
            <a:avLst/>
          </a:prstGeom>
          <a:solidFill>
            <a:srgbClr val="946A19"/>
          </a:solidFill>
          <a:ln/>
        </p:spPr>
      </p:sp>
      <p:sp>
        <p:nvSpPr>
          <p:cNvPr id="24" name="Text 22"/>
          <p:cNvSpPr/>
          <p:nvPr/>
        </p:nvSpPr>
        <p:spPr>
          <a:xfrm>
            <a:off x="502920" y="495604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6F6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CENTER VARIEDADES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8092440" y="4956048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6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2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946A19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8138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5050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Custos fixos mensais (infra)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96012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F6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Hospedagem, banco, e-mail e domínio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298448"/>
            <a:ext cx="8138160" cy="18288"/>
          </a:xfrm>
          <a:prstGeom prst="rect">
            <a:avLst/>
          </a:prstGeom>
          <a:solidFill>
            <a:srgbClr val="E4DED0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417320"/>
            <a:ext cx="8092440" cy="3337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505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Início (meses 1–6): ~R$ 4/mês — Vercel, Neon e Resend free + domínio</a:t>
            </a:r>
            <a:endParaRPr lang="en-US" sz="1500" dirty="0"/>
          </a:p>
          <a:p>
            <a:pPr marL="342900" indent="-3429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505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Crescimento (7–12): ~R$ 40–120/mês — upgrade se necessário</a:t>
            </a:r>
            <a:endParaRPr lang="en-US" sz="1500" dirty="0"/>
          </a:p>
          <a:p>
            <a:pPr marL="342900" indent="-3429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505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 Pix via cron-job.org (gratuito) — não usar só cron Vercel Hobby</a:t>
            </a:r>
            <a:endParaRPr lang="en-US" sz="1500" dirty="0"/>
          </a:p>
          <a:p>
            <a:pPr marL="342900" indent="-3429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505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 conforme volume — não paga caro antes da hora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0" y="4892040"/>
            <a:ext cx="9144000" cy="73152"/>
          </a:xfrm>
          <a:prstGeom prst="rect">
            <a:avLst/>
          </a:prstGeom>
          <a:solidFill>
            <a:srgbClr val="946A19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495604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6F6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CENTER VARIEDADES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8092440" y="4956048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6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22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2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946A19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8138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5050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Custos variáveis por venda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96012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F6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sai de cada pedido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298448"/>
            <a:ext cx="8138160" cy="18288"/>
          </a:xfrm>
          <a:prstGeom prst="rect">
            <a:avLst/>
          </a:prstGeom>
          <a:solidFill>
            <a:srgbClr val="E4DED0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417320"/>
            <a:ext cx="8092440" cy="3337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505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Pix: 1,19% do valor pago</a:t>
            </a:r>
            <a:endParaRPr lang="en-US" sz="1500" dirty="0"/>
          </a:p>
          <a:p>
            <a:pPr marL="342900" indent="-3429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505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cartão: 3,99% + R$ 0,39 por pedido</a:t>
            </a:r>
            <a:endParaRPr lang="en-US" sz="1500" dirty="0"/>
          </a:p>
          <a:p>
            <a:pPr marL="342900" indent="-3429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505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Frete: repasse ao cliente; custo real = etiqueta Melhor Envio</a:t>
            </a:r>
            <a:endParaRPr lang="en-US" sz="1500" dirty="0"/>
          </a:p>
          <a:p>
            <a:pPr marL="342900" indent="-3429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505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Margem da mercadoria: cadastro de CMV no painel admin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0" y="4892040"/>
            <a:ext cx="9144000" cy="73152"/>
          </a:xfrm>
          <a:prstGeom prst="rect">
            <a:avLst/>
          </a:prstGeom>
          <a:solidFill>
            <a:srgbClr val="946A19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495604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6F6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CENTER VARIEDADES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8092440" y="4956048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6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22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2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946A19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8138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5050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Premissas — três cenários (12 meses)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96012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F6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Estimativas transparentes para planejamento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298448"/>
            <a:ext cx="8138160" cy="18288"/>
          </a:xfrm>
          <a:prstGeom prst="rect">
            <a:avLst/>
          </a:prstGeom>
          <a:solidFill>
            <a:srgbClr val="E4DED0"/>
          </a:solidFill>
          <a:ln/>
        </p:spPr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508760"/>
          <a:ext cx="81381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965960"/>
                <a:gridCol w="1965960"/>
                <a:gridCol w="201168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3D2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Premissa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F420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3D2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Conservador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F420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3D2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Médio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F420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3D2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Otimista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F420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5050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Pedidos/mês (M1 → M12)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5050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 → 60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5050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 → 150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5050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 → 300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5050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Ticket médio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5050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R$ 95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5050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5050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5050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Mix Pix / cartão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5050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70% / 30%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5050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60% / 40%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5050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55% / 45%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5050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Margem bruta mercadoria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5050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5050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5050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0" y="4892040"/>
            <a:ext cx="9144000" cy="73152"/>
          </a:xfrm>
          <a:prstGeom prst="rect">
            <a:avLst/>
          </a:prstGeom>
          <a:solidFill>
            <a:srgbClr val="946A19"/>
          </a:solidFill>
          <a:ln/>
        </p:spPr>
      </p:sp>
      <p:sp>
        <p:nvSpPr>
          <p:cNvPr id="8" name="Text 5"/>
          <p:cNvSpPr/>
          <p:nvPr/>
        </p:nvSpPr>
        <p:spPr>
          <a:xfrm>
            <a:off x="502920" y="495604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6F6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CENTER VARIEDADES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092440" y="4956048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6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22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2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946A19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8138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5050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Projeção — cenário médio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96012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F6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Receita de produtos e lucro após taxas Stripe + infra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298448"/>
            <a:ext cx="8138160" cy="18288"/>
          </a:xfrm>
          <a:prstGeom prst="rect">
            <a:avLst/>
          </a:prstGeom>
          <a:solidFill>
            <a:srgbClr val="E4DED0"/>
          </a:solidFill>
          <a:ln/>
        </p:spPr>
      </p:sp>
      <p:graphicFrame>
        <p:nvGraphicFramePr>
          <p:cNvPr id="6" name="Chart 0" descr=""/>
          <p:cNvGraphicFramePr/>
          <p:nvPr/>
        </p:nvGraphicFramePr>
        <p:xfrm>
          <a:off x="457200" y="1417320"/>
          <a:ext cx="539496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5989320" y="1508760"/>
            <a:ext cx="2743200" cy="310896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E4DED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126480" y="16459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F420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Destaques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172200" y="20574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05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Mês 1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172200" y="2313432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6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R$ 5.500 receita · R$ 2.061 lucro*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172200" y="29260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05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Mês 6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172200" y="3182112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6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R$ 10.450 receita · R$ 3.920 lucro*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172200" y="37947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05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Mês 12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172200" y="4050792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6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R$ 16.500 receita · R$ 6.075 lucro*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989320" y="4160520"/>
            <a:ext cx="2743200" cy="502920"/>
          </a:xfrm>
          <a:prstGeom prst="roundRect">
            <a:avLst>
              <a:gd name="adj" fmla="val 9091"/>
            </a:avLst>
          </a:prstGeom>
          <a:solidFill>
            <a:srgbClr val="5F420F"/>
          </a:solidFill>
          <a:ln/>
        </p:spPr>
      </p:sp>
      <p:sp>
        <p:nvSpPr>
          <p:cNvPr id="16" name="Text 13"/>
          <p:cNvSpPr/>
          <p:nvPr/>
        </p:nvSpPr>
        <p:spPr>
          <a:xfrm>
            <a:off x="6080760" y="427939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3D2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12 meses: R$ 48.820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5989320" y="468172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F6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*Sem impostos, salários ou mídia paga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0" y="4892040"/>
            <a:ext cx="9144000" cy="73152"/>
          </a:xfrm>
          <a:prstGeom prst="rect">
            <a:avLst/>
          </a:prstGeom>
          <a:solidFill>
            <a:srgbClr val="946A19"/>
          </a:solidFill>
          <a:ln/>
        </p:spPr>
      </p:sp>
      <p:sp>
        <p:nvSpPr>
          <p:cNvPr id="19" name="Text 16"/>
          <p:cNvSpPr/>
          <p:nvPr/>
        </p:nvSpPr>
        <p:spPr>
          <a:xfrm>
            <a:off x="502920" y="495604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6F6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CENTER VARIEDADES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8092440" y="4956048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6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22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2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946A19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8138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5050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ROI e payback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96012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F6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Retorno sobre investimento em infraestrutura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298448"/>
            <a:ext cx="8138160" cy="18288"/>
          </a:xfrm>
          <a:prstGeom prst="rect">
            <a:avLst/>
          </a:prstGeom>
          <a:solidFill>
            <a:srgbClr val="E4DED0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1554480"/>
            <a:ext cx="2606040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E4DE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78308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F6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Investimento mínimo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24028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5050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~R$ 40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685800" y="324612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F6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domínio .com.br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46120" y="1554480"/>
            <a:ext cx="2606040" cy="2286000"/>
          </a:xfrm>
          <a:prstGeom prst="roundRect">
            <a:avLst>
              <a:gd name="adj" fmla="val 2400"/>
            </a:avLst>
          </a:prstGeom>
          <a:solidFill>
            <a:srgbClr val="5F420F"/>
          </a:solidFill>
          <a:ln w="12700">
            <a:solidFill>
              <a:srgbClr val="E4DE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29000" y="178308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Lucro acumulado 12m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83280" y="224028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3D2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R$ 48.820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3429000" y="324612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3D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cenário médio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989320" y="1554480"/>
            <a:ext cx="2606040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E4DED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72200" y="178308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F6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Payback infra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126480" y="224028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5050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Mês 1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172200" y="324612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F6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cobre domínio no 1º mês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02920" y="4069080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505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Payback real do negócio depende de operação, estoque e marketing. Infra ano 1 (médio): ~R$ 744.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0" y="4892040"/>
            <a:ext cx="9144000" cy="73152"/>
          </a:xfrm>
          <a:prstGeom prst="rect">
            <a:avLst/>
          </a:prstGeom>
          <a:solidFill>
            <a:srgbClr val="946A19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495604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6F6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CENTER VARIEDADES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8092440" y="4956048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6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22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2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946A19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8138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5050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Riscos e mitigação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96012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F6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Transparência gera confiança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298448"/>
            <a:ext cx="8138160" cy="18288"/>
          </a:xfrm>
          <a:prstGeom prst="rect">
            <a:avLst/>
          </a:prstGeom>
          <a:solidFill>
            <a:srgbClr val="E4DED0"/>
          </a:solidFill>
          <a:ln/>
        </p:spPr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63040"/>
          <a:ext cx="813816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5212080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3D2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Risco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F420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3D2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Mitigação no sistema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F420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5050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Pix não pago — estoque preso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F42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Job libera estoque em 30 minutos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C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5050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Pagamento sem baixa de estoque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F42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Webhook Stripe confirma automaticamente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C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5050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Margem errada no relatório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F42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Cadastrar CMV em cada produto no admin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C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5050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 de e-mail ou banco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F42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Monitorar Resend e Neon; upgrade de plano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C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5050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Estatísticas de marketing no site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F42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Validar com dados reais do painel admin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C7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0" y="4892040"/>
            <a:ext cx="9144000" cy="73152"/>
          </a:xfrm>
          <a:prstGeom prst="rect">
            <a:avLst/>
          </a:prstGeom>
          <a:solidFill>
            <a:srgbClr val="946A19"/>
          </a:solidFill>
          <a:ln/>
        </p:spPr>
      </p:sp>
      <p:sp>
        <p:nvSpPr>
          <p:cNvPr id="8" name="Text 5"/>
          <p:cNvSpPr/>
          <p:nvPr/>
        </p:nvSpPr>
        <p:spPr>
          <a:xfrm>
            <a:off x="502920" y="495604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6F6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CENTER VARIEDADES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092440" y="4956048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6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22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5F420F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0" y="0"/>
            <a:ext cx="320040" cy="5143500"/>
          </a:xfrm>
          <a:prstGeom prst="rect">
            <a:avLst/>
          </a:prstGeom>
          <a:solidFill>
            <a:srgbClr val="F3D26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463040"/>
            <a:ext cx="2926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3D2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04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4160520" y="1920240"/>
            <a:ext cx="4754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5050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Próximos passos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160520" y="306324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F6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Colocar a loja no ar e operar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F3D26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Próximos passos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344168"/>
            <a:ext cx="411480" cy="411480"/>
          </a:xfrm>
          <a:prstGeom prst="ellipse">
            <a:avLst/>
          </a:prstGeom>
          <a:solidFill>
            <a:srgbClr val="F3D26B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380744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F4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34440" y="13258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 domínio e configurar DNS na Vercel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1911096"/>
            <a:ext cx="411480" cy="411480"/>
          </a:xfrm>
          <a:prstGeom prst="ellipse">
            <a:avLst/>
          </a:prstGeom>
          <a:solidFill>
            <a:srgbClr val="F3D26B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947672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F4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1892808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Ativar Stripe, Resend e Neon em modo Live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2478024"/>
            <a:ext cx="411480" cy="411480"/>
          </a:xfrm>
          <a:prstGeom prst="ellipse">
            <a:avLst/>
          </a:prstGeom>
          <a:solidFill>
            <a:srgbClr val="F3D26B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514600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F4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34440" y="2459736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Subir catálogo real com fotos e CMV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3044952"/>
            <a:ext cx="411480" cy="411480"/>
          </a:xfrm>
          <a:prstGeom prst="ellipse">
            <a:avLst/>
          </a:prstGeom>
          <a:solidFill>
            <a:srgbClr val="F3D26B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081528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F4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34440" y="3026664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Treinamento do painel admin (~1 hora)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080" y="3611880"/>
            <a:ext cx="411480" cy="411480"/>
          </a:xfrm>
          <a:prstGeom prst="ellipse">
            <a:avLst/>
          </a:prstGeom>
          <a:solidFill>
            <a:srgbClr val="F3D26B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648456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F4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34440" y="3593592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Revisar projeção após 30 dias de operação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40080" y="4160520"/>
            <a:ext cx="5029200" cy="685800"/>
          </a:xfrm>
          <a:prstGeom prst="roundRect">
            <a:avLst>
              <a:gd name="adj" fmla="val 10667"/>
            </a:avLst>
          </a:prstGeom>
          <a:solidFill>
            <a:srgbClr val="946A19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4315968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3D2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Meta mês 1: 30+ pedidos online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40080" y="4754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F6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Center Variedades · Obrigado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Stock Center 2.0 — Apresentação para compradores</dc:title>
  <dc:subject>PptxGenJS Presentation</dc:subject>
  <dc:creator>Stock Center Variedades</dc:creator>
  <cp:lastModifiedBy>Stock Center Variedades</cp:lastModifiedBy>
  <cp:revision>1</cp:revision>
  <dcterms:created xsi:type="dcterms:W3CDTF">2026-05-21T17:34:22Z</dcterms:created>
  <dcterms:modified xsi:type="dcterms:W3CDTF">2026-05-21T17:34:22Z</dcterms:modified>
</cp:coreProperties>
</file>